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22" r:id="rId5"/>
    <p:sldId id="321" r:id="rId6"/>
    <p:sldId id="320" r:id="rId7"/>
    <p:sldId id="323" r:id="rId8"/>
    <p:sldId id="318" r:id="rId9"/>
    <p:sldId id="324" r:id="rId10"/>
    <p:sldId id="325" r:id="rId11"/>
    <p:sldId id="326" r:id="rId12"/>
    <p:sldId id="327" r:id="rId13"/>
    <p:sldId id="328" r:id="rId14"/>
    <p:sldId id="329" r:id="rId15"/>
    <p:sldId id="330" r:id="rId16"/>
    <p:sldId id="31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DAA"/>
    <a:srgbClr val="32CD32"/>
    <a:srgbClr val="98FF98"/>
    <a:srgbClr val="556B2F"/>
    <a:srgbClr val="2E8B57"/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26" autoAdjust="0"/>
    <p:restoredTop sz="95388" autoAdjust="0"/>
  </p:normalViewPr>
  <p:slideViewPr>
    <p:cSldViewPr snapToGrid="0">
      <p:cViewPr>
        <p:scale>
          <a:sx n="100" d="100"/>
          <a:sy n="100" d="100"/>
        </p:scale>
        <p:origin x="-610" y="-533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3A5703107489EC2/Presentation%206_Pi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3A5703107489EC2/Presentation%206_Pi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3A5703107489EC2/Presentation%206_BarClustered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3A5703107489EC2/Presentation%206_Pie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3A5703107489EC2/Presentation%206_Line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3A5703107489EC2/Presentation%206_Pie%201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Online VS Offline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23A-476F-8410-C4D4F1D4B1E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23A-476F-8410-C4D4F1D4B1E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23A-476F-8410-C4D4F1D4B1E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23A-476F-8410-C4D4F1D4B1E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2"/>
                <c:pt idx="0">
                  <c:v>Online</c:v>
                </c:pt>
                <c:pt idx="1">
                  <c:v>Offline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0.19</c:v>
                </c:pt>
                <c:pt idx="1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58-4B8A-B060-308215CFC7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Online VS Offline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BE6-49E1-8B32-43CEC7FB642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BE6-49E1-8B32-43CEC7FB642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BE6-49E1-8B32-43CEC7FB642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BE6-49E1-8B32-43CEC7FB642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2"/>
                <c:pt idx="0">
                  <c:v>Online</c:v>
                </c:pt>
                <c:pt idx="1">
                  <c:v>Offline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0.25</c:v>
                </c:pt>
                <c:pt idx="1">
                  <c:v>0.75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58-4B8A-B060-308215CFC7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Europe  (UK  / DE / FR)</c:v>
                </c:pt>
                <c:pt idx="1">
                  <c:v>Australia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2401</c:v>
                </c:pt>
                <c:pt idx="1">
                  <c:v>892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31-434A-8042-CE29EBF131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Europe  (UK  / DE / FR)</c:v>
                </c:pt>
                <c:pt idx="1">
                  <c:v>Australia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14000</c:v>
                </c:pt>
                <c:pt idx="1">
                  <c:v>7371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131-434A-8042-CE29EBF131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92901871"/>
        <c:axId val="692903311"/>
      </c:barChart>
      <c:catAx>
        <c:axId val="6929018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903311"/>
        <c:crosses val="autoZero"/>
        <c:auto val="1"/>
        <c:lblAlgn val="ctr"/>
        <c:lblOffset val="100"/>
        <c:noMultiLvlLbl val="0"/>
      </c:catAx>
      <c:valAx>
        <c:axId val="69290331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9018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F85-466A-B045-20F5E074B03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F85-466A-B045-20F5E074B03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F85-466A-B045-20F5E074B03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F85-466A-B045-20F5E074B03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2"/>
                <c:pt idx="0">
                  <c:v>AU Offline</c:v>
                </c:pt>
                <c:pt idx="1">
                  <c:v>Other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4.7E-2</c:v>
                </c:pt>
                <c:pt idx="1">
                  <c:v>0.95299999999999996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D89-4DFE-9F87-7045F2A289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2013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336</c:v>
                </c:pt>
                <c:pt idx="1">
                  <c:v>219</c:v>
                </c:pt>
                <c:pt idx="2">
                  <c:v>304</c:v>
                </c:pt>
                <c:pt idx="3">
                  <c:v>269</c:v>
                </c:pt>
                <c:pt idx="4">
                  <c:v>293</c:v>
                </c:pt>
                <c:pt idx="5">
                  <c:v>719</c:v>
                </c:pt>
                <c:pt idx="6">
                  <c:v>1740</c:v>
                </c:pt>
                <c:pt idx="7">
                  <c:v>1789</c:v>
                </c:pt>
                <c:pt idx="8">
                  <c:v>1791</c:v>
                </c:pt>
                <c:pt idx="9">
                  <c:v>1968</c:v>
                </c:pt>
                <c:pt idx="10">
                  <c:v>2103</c:v>
                </c:pt>
                <c:pt idx="11">
                  <c:v>2050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3CF-4EF3-9BCC-0EDE034FE4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400</c:v>
                </c:pt>
                <c:pt idx="1">
                  <c:v>325</c:v>
                </c:pt>
                <c:pt idx="2">
                  <c:v>441</c:v>
                </c:pt>
                <c:pt idx="3">
                  <c:v>428</c:v>
                </c:pt>
                <c:pt idx="4">
                  <c:v>428</c:v>
                </c:pt>
                <c:pt idx="5">
                  <c:v>390</c:v>
                </c:pt>
                <c:pt idx="6">
                  <c:v>385</c:v>
                </c:pt>
                <c:pt idx="7">
                  <c:v>285</c:v>
                </c:pt>
                <c:pt idx="8">
                  <c:v>352</c:v>
                </c:pt>
                <c:pt idx="9">
                  <c:v>321</c:v>
                </c:pt>
                <c:pt idx="10">
                  <c:v>383</c:v>
                </c:pt>
                <c:pt idx="11">
                  <c:v>378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3CF-4EF3-9BCC-0EDE034FE4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92901871"/>
        <c:axId val="692899471"/>
      </c:lineChart>
      <c:catAx>
        <c:axId val="6929018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899471"/>
        <c:crosses val="autoZero"/>
        <c:auto val="1"/>
        <c:lblAlgn val="ctr"/>
        <c:lblOffset val="100"/>
        <c:noMultiLvlLbl val="0"/>
      </c:catAx>
      <c:valAx>
        <c:axId val="6928994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9018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D13-4998-BFE5-F26A791056B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D13-4998-BFE5-F26A791056B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D13-4998-BFE5-F26A791056B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Bikes</c:v>
                </c:pt>
                <c:pt idx="1">
                  <c:v>Components</c:v>
                </c:pt>
                <c:pt idx="2">
                  <c:v>Clothing &amp; Accesories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0.85</c:v>
                </c:pt>
                <c:pt idx="1">
                  <c:v>0.12</c:v>
                </c:pt>
                <c:pt idx="2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9C-4161-A44F-5FD6CA6716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2012, </a:t>
            </a:r>
            <a:r>
              <a:rPr lang="en-US" dirty="0" err="1"/>
              <a:t>AdventureWorks</a:t>
            </a:r>
            <a:r>
              <a:rPr lang="en-US" dirty="0"/>
              <a:t> was operating with a stable revenue base of $37.68M, primarily driven by offline sales. The company had a presence across multiple regions, with modest online activity and steady growth expectations.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3507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448C4-000D-AB40-55DA-27898C6C7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EC361C-6362-269A-F03D-41F6E16C3A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5092A8-1E62-7178-CA11-90633EF8B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2013, </a:t>
            </a:r>
            <a:r>
              <a:rPr lang="en-US" dirty="0" err="1"/>
              <a:t>AdventureWorks</a:t>
            </a:r>
            <a:r>
              <a:rPr lang="en-US" dirty="0"/>
              <a:t> grew operating revenue to total of $48.97M Which is a solid 30% growth.  </a:t>
            </a:r>
          </a:p>
          <a:p>
            <a:r>
              <a:rPr lang="en-US" dirty="0"/>
              <a:t>Online sales surged reaching $11.86M with 67.9% growth </a:t>
            </a:r>
          </a:p>
          <a:p>
            <a:r>
              <a:rPr lang="en-US" dirty="0"/>
              <a:t>Offline sales scaled up to 37 mil with 21% growth.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We can see that Offline sales still dominate in revenue, but the dominance is 6% lower.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F13D1-5621-EC07-591A-0672D4F87A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5464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Two regions stand out from others -&gt; AU and EU (which consists of GB/FR/DE)</a:t>
            </a:r>
          </a:p>
          <a:p>
            <a:r>
              <a:rPr lang="en-US" dirty="0">
                <a:ea typeface="Calibri"/>
                <a:cs typeface="Calibri"/>
              </a:rPr>
              <a:t>AU reached growth of 74%</a:t>
            </a:r>
          </a:p>
          <a:p>
            <a:r>
              <a:rPr lang="en-US" dirty="0">
                <a:ea typeface="Calibri"/>
                <a:cs typeface="Calibri"/>
              </a:rPr>
              <a:t>EU touched the sky with 174% increase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These two regions combined made 84% of overall </a:t>
            </a:r>
            <a:r>
              <a:rPr lang="en-US" dirty="0" err="1">
                <a:ea typeface="Calibri"/>
                <a:cs typeface="Calibri"/>
              </a:rPr>
              <a:t>groth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6281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Mainly Two things con tributed to the overall growth</a:t>
            </a:r>
          </a:p>
          <a:p>
            <a:r>
              <a:rPr lang="en-US" dirty="0">
                <a:ea typeface="Calibri"/>
                <a:cs typeface="Calibri"/>
              </a:rPr>
              <a:t>First one: ASU offline launch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Might look insignificant?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0834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2nd </a:t>
            </a:r>
            <a:r>
              <a:rPr lang="en-US" dirty="0" err="1">
                <a:ea typeface="Calibri"/>
                <a:cs typeface="Calibri"/>
              </a:rPr>
              <a:t>whath</a:t>
            </a:r>
            <a:r>
              <a:rPr lang="en-US" dirty="0">
                <a:ea typeface="Calibri"/>
                <a:cs typeface="Calibri"/>
              </a:rPr>
              <a:t> as happened: Online </a:t>
            </a:r>
            <a:r>
              <a:rPr lang="en-US" dirty="0" err="1">
                <a:ea typeface="Calibri"/>
                <a:cs typeface="Calibri"/>
              </a:rPr>
              <a:t>Campaing</a:t>
            </a:r>
            <a:r>
              <a:rPr lang="en-US" dirty="0">
                <a:ea typeface="Calibri"/>
                <a:cs typeface="Calibri"/>
              </a:rPr>
              <a:t> of Clothing &amp; </a:t>
            </a:r>
            <a:r>
              <a:rPr lang="en-US" dirty="0" err="1">
                <a:ea typeface="Calibri"/>
                <a:cs typeface="Calibri"/>
              </a:rPr>
              <a:t>Accesories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2526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dirty="0"/>
              <a:t>This confirms that </a:t>
            </a:r>
            <a:r>
              <a:rPr lang="en-US" dirty="0" err="1"/>
              <a:t>AdventureWorks</a:t>
            </a:r>
            <a:r>
              <a:rPr lang="en-US" dirty="0"/>
              <a:t> is fundamentally a bike company.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It validates where the bulk of investment, inventory, and marketing has gone.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However, this here shows new waters for new business.</a:t>
            </a:r>
            <a:endParaRPr lang="en-US" b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Despite launching mid-year, </a:t>
            </a:r>
            <a:r>
              <a:rPr lang="en-US" dirty="0" err="1"/>
              <a:t>itcaptured</a:t>
            </a:r>
            <a:r>
              <a:rPr lang="en-US" dirty="0"/>
              <a:t> </a:t>
            </a:r>
            <a:r>
              <a:rPr lang="en-US" b="1" dirty="0"/>
              <a:t>3% of total revenue</a:t>
            </a:r>
            <a:r>
              <a:rPr lang="en-US" dirty="0"/>
              <a:t> — that’s not trivial.</a:t>
            </a: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dirty="0"/>
              <a:t>This growth came </a:t>
            </a:r>
            <a:r>
              <a:rPr lang="en-US" b="1" dirty="0"/>
              <a:t>entirely through online channels</a:t>
            </a:r>
            <a:r>
              <a:rPr lang="en-US" dirty="0"/>
              <a:t>, meaning: </a:t>
            </a:r>
            <a:endParaRPr lang="en-US" dirty="0"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r>
              <a:rPr lang="en-US" b="1" dirty="0"/>
              <a:t>Low overhead</a:t>
            </a:r>
            <a:endParaRPr lang="en-US" b="1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dirty="0"/>
              <a:t>No need for retail space, staff, or physical inventory handling.</a:t>
            </a: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dirty="0"/>
              <a:t>Fewer fixed costs = more profit per sale.</a:t>
            </a:r>
            <a:endParaRPr lang="en-US" dirty="0"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endParaRPr lang="en-US" dirty="0"/>
          </a:p>
          <a:p>
            <a:pPr lvl="1">
              <a:buFont typeface="Arial"/>
              <a:buChar char="•"/>
            </a:pPr>
            <a:r>
              <a:rPr lang="en-US" b="1" dirty="0"/>
              <a:t>High scalability</a:t>
            </a:r>
            <a:endParaRPr lang="en-US" b="1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dirty="0"/>
              <a:t>You can reach A LOT more customers without increasing costs.</a:t>
            </a: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dirty="0"/>
              <a:t>If one campaign works, you can replicate it across geographies or segments instantly</a:t>
            </a:r>
            <a:endParaRPr lang="en-US" dirty="0"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endParaRPr lang="en-US" dirty="0"/>
          </a:p>
          <a:p>
            <a:r>
              <a:rPr lang="en-US" dirty="0"/>
              <a:t>While bikes remain our revenue engine, the rapid traction of clothing and accessories — launched mid-2013 — signals a scalable opportunity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6610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These products </a:t>
            </a:r>
            <a:r>
              <a:rPr lang="en-US" dirty="0" err="1">
                <a:ea typeface="Calibri"/>
                <a:cs typeface="Calibri"/>
              </a:rPr>
              <a:t>compliment</a:t>
            </a:r>
            <a:r>
              <a:rPr lang="en-US" dirty="0">
                <a:ea typeface="Calibri"/>
                <a:cs typeface="Calibri"/>
              </a:rPr>
              <a:t> a lot of bike purchases, confirming that Clothing &amp; Accessories as a </a:t>
            </a:r>
            <a:r>
              <a:rPr lang="en-US" dirty="0"/>
              <a:t>category is</a:t>
            </a:r>
            <a:r>
              <a:rPr lang="en-US" dirty="0">
                <a:ea typeface="Calibri"/>
                <a:cs typeface="Calibri"/>
              </a:rPr>
              <a:t> growing 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/>
              <a:t>This package isn’t just a sale — it’s the start of a </a:t>
            </a:r>
            <a:r>
              <a:rPr lang="en-US" b="1" dirty="0"/>
              <a:t>customer journey </a:t>
            </a:r>
            <a:r>
              <a:rPr lang="en-US" dirty="0"/>
              <a:t>because  It opens doors to future purchases: maintenance kits, performance gear</a:t>
            </a: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/>
              <a:t>“The Newcomers Package isn’t just a product bundle — it’s a strategic entry point. These top-ranked items drive upsell, deepen brand engagement, and validate our shift toward scalable, high-margin categories.”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3124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Fast-moving goods are driving growth — but our current inventory cycle can’t keep up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And I want to point out STR.</a:t>
            </a:r>
          </a:p>
          <a:p>
            <a:r>
              <a:rPr lang="en-US" dirty="0">
                <a:ea typeface="Calibri"/>
                <a:cs typeface="Calibri"/>
              </a:rPr>
              <a:t>Basically the index shows how fast or slow inventory is replenished in comparison to sales.</a:t>
            </a:r>
            <a:endParaRPr lang="en-US" dirty="0"/>
          </a:p>
          <a:p>
            <a:r>
              <a:rPr lang="en-US" dirty="0">
                <a:ea typeface="Calibri"/>
                <a:cs typeface="Calibri"/>
              </a:rPr>
              <a:t>1 = Once per month</a:t>
            </a:r>
          </a:p>
          <a:p>
            <a:r>
              <a:rPr lang="en-US" dirty="0"/>
              <a:t>A </a:t>
            </a:r>
            <a:r>
              <a:rPr lang="en-US" b="1" dirty="0"/>
              <a:t>higher turnover rate</a:t>
            </a:r>
            <a:r>
              <a:rPr lang="en-US" dirty="0"/>
              <a:t> means inventory is selling quickly — great for cash flow and efficiency.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A </a:t>
            </a:r>
            <a:r>
              <a:rPr lang="en-US" b="1" dirty="0"/>
              <a:t>lower turnover rate</a:t>
            </a:r>
            <a:r>
              <a:rPr lang="en-US" dirty="0"/>
              <a:t> may suggest overstocking, slow sales, or poor inventory management.</a:t>
            </a:r>
            <a:br>
              <a:rPr lang="en-US" dirty="0">
                <a:cs typeface="+mn-lt"/>
              </a:rPr>
            </a:br>
            <a:br>
              <a:rPr lang="en-US" dirty="0">
                <a:cs typeface="+mn-lt"/>
              </a:rPr>
            </a:br>
            <a:r>
              <a:rPr lang="en-US" dirty="0">
                <a:ea typeface="Calibri"/>
                <a:cs typeface="Calibri"/>
              </a:rPr>
              <a:t>As given on the list, very few items have STR at 1.</a:t>
            </a:r>
          </a:p>
          <a:p>
            <a:r>
              <a:rPr lang="en-US" dirty="0">
                <a:ea typeface="Calibri"/>
                <a:cs typeface="Calibri"/>
              </a:rPr>
              <a:t>And that is the main risk with online purchases, they go out fast and in bundles.</a:t>
            </a:r>
          </a:p>
          <a:p>
            <a:r>
              <a:rPr lang="en-US" dirty="0"/>
              <a:t>Bulk online shopping amplifies this — demand spikes faster than replenishment.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/>
              <a:t>Our inventory velocity isn’t aligned with seasonal demand. Fast-moving products — especially in summer — are outpacing our restocking rhythm. To sustain growth, we need smarter forecasting, tighter supply chain loops, and dynamic inventory strategies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3850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30A9B-AF6F-3095-52D1-53B8BE92C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958DC4-871F-872D-B30B-53D819CAF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7FD1A4-C01E-E528-0A66-DF6ED41C9B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“Limited variety in high-demand categories is capping our growth. Strategic assortment expansion can drive incremental revenue.”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/>
              <a:t>High STR + low variety = </a:t>
            </a:r>
            <a:r>
              <a:rPr lang="en-US" b="1" dirty="0"/>
              <a:t>missed cross-sell and upsell potential</a:t>
            </a:r>
          </a:p>
          <a:p>
            <a:r>
              <a:rPr lang="en-US" dirty="0">
                <a:ea typeface="Calibri"/>
                <a:cs typeface="Calibri"/>
              </a:rPr>
              <a:t>These type of products are like ice-cream -&gt; there is never enough choices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Currently </a:t>
            </a:r>
            <a:r>
              <a:rPr lang="en-US" dirty="0"/>
              <a:t>our top categories are under-assorted. By </a:t>
            </a:r>
            <a:r>
              <a:rPr lang="en-US" dirty="0" err="1"/>
              <a:t>expandingthe</a:t>
            </a:r>
            <a:r>
              <a:rPr lang="en-US" dirty="0"/>
              <a:t> options, we can capture more demand, increase basket size, and deepen brand loyalty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A1616-C02E-8961-4260-CA7DE31033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633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034" y="-1"/>
            <a:ext cx="11288278" cy="2063022"/>
          </a:xfrm>
        </p:spPr>
        <p:txBody>
          <a:bodyPr/>
          <a:lstStyle/>
          <a:p>
            <a:pPr algn="ctr"/>
            <a:r>
              <a:rPr lang="en-US" sz="5400" i="1" err="1">
                <a:ea typeface="+mj-lt"/>
                <a:cs typeface="+mj-lt"/>
              </a:rPr>
              <a:t>AdventureWorks</a:t>
            </a:r>
            <a:r>
              <a:rPr lang="en-US" sz="5400" i="1" dirty="0">
                <a:ea typeface="+mj-lt"/>
                <a:cs typeface="+mj-lt"/>
              </a:rPr>
              <a:t>: </a:t>
            </a:r>
            <a:br>
              <a:rPr lang="en-US" sz="5400" i="1" dirty="0">
                <a:ea typeface="+mj-lt"/>
                <a:cs typeface="+mj-lt"/>
              </a:rPr>
            </a:br>
            <a:r>
              <a:rPr lang="en-US" sz="5400" i="1" dirty="0">
                <a:ea typeface="+mj-lt"/>
                <a:cs typeface="+mj-lt"/>
              </a:rPr>
              <a:t>Scaling Smart</a:t>
            </a:r>
            <a:endParaRPr lang="en-US" sz="5400" i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E8C9F5-3C2F-C23A-7D2B-61F56E56D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253" y="2964051"/>
            <a:ext cx="3893949" cy="38939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253E11-0D18-8DE5-F3B3-F3FAF4465AD8}"/>
              </a:ext>
            </a:extLst>
          </p:cNvPr>
          <p:cNvSpPr txBox="1"/>
          <p:nvPr/>
        </p:nvSpPr>
        <p:spPr>
          <a:xfrm>
            <a:off x="9452545" y="5937250"/>
            <a:ext cx="274319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Tisa Offc Serif Pro"/>
              </a:rPr>
              <a:t>Dominykas </a:t>
            </a:r>
            <a:r>
              <a:rPr lang="en-GB" err="1">
                <a:solidFill>
                  <a:schemeClr val="bg1"/>
                </a:solidFill>
                <a:latin typeface="Tisa Offc Serif Pro"/>
              </a:rPr>
              <a:t>Babičas</a:t>
            </a:r>
            <a:endParaRPr lang="en-GB">
              <a:solidFill>
                <a:schemeClr val="bg1"/>
              </a:solidFill>
              <a:latin typeface="Tisa Offc Serif Pro"/>
            </a:endParaRPr>
          </a:p>
          <a:p>
            <a:r>
              <a:rPr lang="en-GB" dirty="0">
                <a:solidFill>
                  <a:schemeClr val="bg1"/>
                </a:solidFill>
                <a:latin typeface="Tisa Offc Serif Pro"/>
              </a:rPr>
              <a:t>Data Analyst</a:t>
            </a:r>
          </a:p>
          <a:p>
            <a:r>
              <a:rPr lang="en-GB" dirty="0">
                <a:solidFill>
                  <a:schemeClr val="bg1"/>
                </a:solidFill>
                <a:latin typeface="Tisa Offc Serif Pro"/>
              </a:rPr>
              <a:t>2025-09-12</a:t>
            </a: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4640418" cy="5407091"/>
          </a:xfrm>
        </p:spPr>
        <p:txBody>
          <a:bodyPr/>
          <a:lstStyle/>
          <a:p>
            <a:r>
              <a:rPr lang="en-US" i="1" err="1">
                <a:latin typeface="Tisa Offc Serif Pro"/>
              </a:rPr>
              <a:t>AdventureWorks</a:t>
            </a:r>
            <a:r>
              <a:rPr lang="en-US" i="1" dirty="0">
                <a:latin typeface="Tisa Offc Serif Pro"/>
              </a:rPr>
              <a:t> Roadmap Overview</a:t>
            </a:r>
            <a:endParaRPr lang="en-US" i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A04E6-CD61-B962-4287-DEC1993C32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88461" y="737115"/>
            <a:ext cx="4449712" cy="5407091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1. Growth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Key metrics and milestones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Regional Performance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Main Initiatives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2. Sales to Revenue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Sales performance trends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3. Assortment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New arrivals and seasonal planning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4. Challenges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Inventory planning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Assortment competition</a:t>
            </a:r>
            <a:endParaRPr lang="en-US" dirty="0"/>
          </a:p>
          <a:p>
            <a:r>
              <a:rPr lang="en-US" b="1" dirty="0"/>
              <a:t>5. Key Takeaways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D0E47E-D228-15EB-5886-33E9AA18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9064" y="148209"/>
            <a:ext cx="5775232" cy="1210379"/>
          </a:xfrm>
        </p:spPr>
        <p:txBody>
          <a:bodyPr/>
          <a:lstStyle/>
          <a:p>
            <a:r>
              <a:rPr lang="en-US" i="1" noProof="1">
                <a:ea typeface="+mj-lt"/>
                <a:cs typeface="+mj-lt"/>
              </a:rPr>
              <a:t>AdventureWorks</a:t>
            </a:r>
            <a:r>
              <a:rPr lang="en-US" i="1" dirty="0">
                <a:ea typeface="+mj-lt"/>
                <a:cs typeface="+mj-lt"/>
              </a:rPr>
              <a:t> in 2012: </a:t>
            </a:r>
            <a:br>
              <a:rPr lang="en-US" i="1" dirty="0">
                <a:ea typeface="+mj-lt"/>
                <a:cs typeface="+mj-lt"/>
              </a:rPr>
            </a:br>
            <a:r>
              <a:rPr lang="en-US" i="1" dirty="0">
                <a:ea typeface="+mj-lt"/>
                <a:cs typeface="+mj-lt"/>
              </a:rPr>
              <a:t>A Stable Foundation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BF1FC2-AD5D-5E2B-0C78-49F399FED49E}"/>
              </a:ext>
            </a:extLst>
          </p:cNvPr>
          <p:cNvSpPr txBox="1"/>
          <p:nvPr/>
        </p:nvSpPr>
        <p:spPr>
          <a:xfrm>
            <a:off x="871157" y="1912948"/>
            <a:ext cx="4770893" cy="32644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lvl="1" indent="-285750">
              <a:lnSpc>
                <a:spcPct val="300000"/>
              </a:lnSpc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Total Revenue:</a:t>
            </a:r>
            <a:r>
              <a:rPr lang="en-US" dirty="0">
                <a:ea typeface="+mn-lt"/>
                <a:cs typeface="+mn-lt"/>
              </a:rPr>
              <a:t> $37.68M</a:t>
            </a:r>
            <a:endParaRPr lang="en-US"/>
          </a:p>
          <a:p>
            <a:pPr marL="742950" lvl="1" indent="-285750">
              <a:lnSpc>
                <a:spcPct val="300000"/>
              </a:lnSpc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Offline Sales:</a:t>
            </a:r>
            <a:r>
              <a:rPr lang="en-US" dirty="0">
                <a:ea typeface="+mn-lt"/>
                <a:cs typeface="+mn-lt"/>
              </a:rPr>
              <a:t> $30.61M</a:t>
            </a:r>
            <a:endParaRPr lang="en-US"/>
          </a:p>
          <a:p>
            <a:pPr marL="742950" lvl="1" indent="-285750">
              <a:lnSpc>
                <a:spcPct val="300000"/>
              </a:lnSpc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Online Sales:</a:t>
            </a:r>
            <a:r>
              <a:rPr lang="en-US" dirty="0">
                <a:ea typeface="+mn-lt"/>
                <a:cs typeface="+mn-lt"/>
              </a:rPr>
              <a:t> $7.06M</a:t>
            </a:r>
            <a:endParaRPr lang="en-US"/>
          </a:p>
          <a:p>
            <a:pPr marL="742950" lvl="1" indent="-285750" algn="l">
              <a:lnSpc>
                <a:spcPct val="300000"/>
              </a:lnSpc>
              <a:buFont typeface="Arial"/>
              <a:buChar char="•"/>
            </a:pPr>
            <a:endParaRPr lang="en-US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05DF153-BFD8-5499-76B4-682BD48D45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2793382"/>
              </p:ext>
            </p:extLst>
          </p:nvPr>
        </p:nvGraphicFramePr>
        <p:xfrm>
          <a:off x="6167033" y="1297606"/>
          <a:ext cx="609600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52118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DB4E1-33BC-F024-B06B-89CFB4F96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6EDC30-ADC5-D67C-3AA2-BC8D6E737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9064" y="-316"/>
            <a:ext cx="5775232" cy="1210379"/>
          </a:xfrm>
        </p:spPr>
        <p:txBody>
          <a:bodyPr/>
          <a:lstStyle/>
          <a:p>
            <a:r>
              <a:rPr lang="en-US" i="1" dirty="0">
                <a:ea typeface="+mj-lt"/>
                <a:cs typeface="+mj-lt"/>
              </a:rPr>
              <a:t>2013: A Year of Acceleration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B6A9B1-2FB6-4464-B720-9EA9A738327A}"/>
              </a:ext>
            </a:extLst>
          </p:cNvPr>
          <p:cNvSpPr txBox="1"/>
          <p:nvPr/>
        </p:nvSpPr>
        <p:spPr>
          <a:xfrm>
            <a:off x="1244219" y="1976448"/>
            <a:ext cx="5216469" cy="32644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300000"/>
              </a:lnSpc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Total Revenue:</a:t>
            </a:r>
            <a:r>
              <a:rPr lang="en-US" dirty="0">
                <a:ea typeface="+mn-lt"/>
                <a:cs typeface="+mn-lt"/>
              </a:rPr>
              <a:t> $48.97M → 📈 +30%</a:t>
            </a:r>
            <a:endParaRPr lang="en-US" dirty="0"/>
          </a:p>
          <a:p>
            <a:pPr marL="285750" indent="-285750">
              <a:lnSpc>
                <a:spcPct val="300000"/>
              </a:lnSpc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Online Sales:</a:t>
            </a:r>
            <a:r>
              <a:rPr lang="en-US" dirty="0">
                <a:ea typeface="+mn-lt"/>
                <a:cs typeface="+mn-lt"/>
              </a:rPr>
              <a:t> $11.86M → 📈 +67.9%</a:t>
            </a:r>
            <a:endParaRPr lang="en-US" dirty="0"/>
          </a:p>
          <a:p>
            <a:pPr marL="285750" indent="-285750">
              <a:lnSpc>
                <a:spcPct val="300000"/>
              </a:lnSpc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Offline Sales:</a:t>
            </a:r>
            <a:r>
              <a:rPr lang="en-US" dirty="0">
                <a:ea typeface="+mn-lt"/>
                <a:cs typeface="+mn-lt"/>
              </a:rPr>
              <a:t> $37.11M → 📈 +21.3%</a:t>
            </a:r>
            <a:endParaRPr lang="en-US" dirty="0"/>
          </a:p>
          <a:p>
            <a:pPr marL="742950" lvl="1" indent="-285750" algn="l">
              <a:lnSpc>
                <a:spcPct val="300000"/>
              </a:lnSpc>
              <a:buFont typeface="Arial"/>
              <a:buChar char="•"/>
            </a:pPr>
            <a:endParaRPr lang="en-US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47611EF-E257-83D3-B1B8-78860FFBF4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8405599"/>
              </p:ext>
            </p:extLst>
          </p:nvPr>
        </p:nvGraphicFramePr>
        <p:xfrm>
          <a:off x="6160576" y="1291149"/>
          <a:ext cx="609600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19240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391" y="157"/>
            <a:ext cx="9150675" cy="1427585"/>
          </a:xfrm>
        </p:spPr>
        <p:txBody>
          <a:bodyPr/>
          <a:lstStyle/>
          <a:p>
            <a:r>
              <a:rPr lang="en-US" i="1" dirty="0">
                <a:ea typeface="+mj-lt"/>
                <a:cs typeface="+mj-lt"/>
              </a:rPr>
              <a:t>Growth Concentration: A Strategic Signal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EE570-1B5E-FFD1-485D-D77E4E6FE7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56237" y="1818129"/>
            <a:ext cx="8552264" cy="4119463"/>
          </a:xfrm>
        </p:spPr>
        <p:txBody>
          <a:bodyPr vert="horz" lIns="0" tIns="0" rIns="0" bIns="0" rtlCol="0" anchor="t">
            <a:normAutofit fontScale="85000" lnSpcReduction="1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dirty="0"/>
              <a:t>Regional growth</a:t>
            </a:r>
            <a:endParaRPr lang="en-US"/>
          </a:p>
          <a:p>
            <a:pPr>
              <a:lnSpc>
                <a:spcPct val="300000"/>
              </a:lnSpc>
            </a:pPr>
            <a:r>
              <a:rPr lang="en-US" b="1" dirty="0">
                <a:ea typeface="+mn-lt"/>
                <a:cs typeface="+mn-lt"/>
              </a:rPr>
              <a:t>AU Region: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+74%</a:t>
            </a:r>
            <a:endParaRPr lang="en-US">
              <a:solidFill>
                <a:srgbClr val="000000"/>
              </a:solidFill>
            </a:endParaRPr>
          </a:p>
          <a:p>
            <a:pPr>
              <a:lnSpc>
                <a:spcPct val="300000"/>
              </a:lnSpc>
            </a:pPr>
            <a:r>
              <a:rPr lang="en-US" b="1" dirty="0">
                <a:ea typeface="+mn-lt"/>
                <a:cs typeface="+mn-lt"/>
              </a:rPr>
              <a:t>EU Region:</a:t>
            </a:r>
            <a:r>
              <a:rPr lang="en-US" dirty="0">
                <a:ea typeface="+mn-lt"/>
                <a:cs typeface="+mn-lt"/>
              </a:rPr>
              <a:t> +172%</a:t>
            </a:r>
          </a:p>
          <a:p>
            <a:pPr>
              <a:lnSpc>
                <a:spcPct val="300000"/>
              </a:lnSpc>
            </a:pPr>
            <a:endParaRPr lang="en-US" dirty="0"/>
          </a:p>
          <a:p>
            <a:pPr marL="0" indent="0">
              <a:lnSpc>
                <a:spcPct val="300000"/>
              </a:lnSpc>
              <a:buNone/>
            </a:pPr>
            <a:r>
              <a:rPr lang="en-US" dirty="0"/>
              <a:t>Combined contribution </a:t>
            </a:r>
            <a:r>
              <a:rPr lang="en-US" b="1" dirty="0"/>
              <a:t>$9.5M</a:t>
            </a:r>
            <a:r>
              <a:rPr lang="en-US" dirty="0"/>
              <a:t> of the </a:t>
            </a:r>
            <a:r>
              <a:rPr lang="en-US" b="1" dirty="0"/>
              <a:t>$11.3M</a:t>
            </a:r>
            <a:r>
              <a:rPr lang="en-US" dirty="0"/>
              <a:t> total growth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999F565E-FC76-FC4F-8675-69491CA20F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5010391"/>
              </p:ext>
            </p:extLst>
          </p:nvPr>
        </p:nvGraphicFramePr>
        <p:xfrm>
          <a:off x="5598763" y="1194285"/>
          <a:ext cx="6096000" cy="40626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Picture 4" descr="A blue flag with yellow stars&#10;&#10;AI-generated content may be incorrect.">
            <a:extLst>
              <a:ext uri="{FF2B5EF4-FFF2-40B4-BE49-F238E27FC236}">
                <a16:creationId xmlns:a16="http://schemas.microsoft.com/office/drawing/2014/main" id="{343BE025-7E9D-BF8A-ED8E-D3A8FF7922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0881" y="3569143"/>
            <a:ext cx="933450" cy="619125"/>
          </a:xfrm>
          <a:prstGeom prst="rect">
            <a:avLst/>
          </a:prstGeom>
        </p:spPr>
      </p:pic>
      <p:pic>
        <p:nvPicPr>
          <p:cNvPr id="6" name="Picture 5" descr="A flag with a red cross and white stars&#10;&#10;AI-generated content may be incorrect.">
            <a:extLst>
              <a:ext uri="{FF2B5EF4-FFF2-40B4-BE49-F238E27FC236}">
                <a16:creationId xmlns:a16="http://schemas.microsoft.com/office/drawing/2014/main" id="{508F5226-CA1A-7178-649C-7B34AC60D7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6971" y="2616487"/>
            <a:ext cx="921271" cy="600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C8BFC-5E4F-12AD-8DD0-F76FA0895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549F9-985C-DEEE-6615-191737726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391" y="157"/>
            <a:ext cx="9150675" cy="1427585"/>
          </a:xfrm>
        </p:spPr>
        <p:txBody>
          <a:bodyPr>
            <a:normAutofit/>
          </a:bodyPr>
          <a:lstStyle/>
          <a:p>
            <a:pPr algn="ctr"/>
            <a:r>
              <a:rPr lang="en-US" i="1" dirty="0">
                <a:ea typeface="+mj-lt"/>
                <a:cs typeface="+mj-lt"/>
              </a:rPr>
              <a:t>Australia Offline Launch (May 2013)</a:t>
            </a:r>
            <a:br>
              <a:rPr lang="en-US" i="1" dirty="0">
                <a:ea typeface="+mj-lt"/>
                <a:cs typeface="+mj-lt"/>
              </a:rPr>
            </a:br>
            <a:endParaRPr lang="en-US" i="1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5EBA3-E911-6B6C-0657-301F14C2C2C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14845" y="1560367"/>
            <a:ext cx="8552264" cy="4119463"/>
          </a:xfrm>
        </p:spPr>
        <p:txBody>
          <a:bodyPr vert="horz" lIns="0" tIns="0" rIns="0" bIns="0" rtlCol="0" anchor="t">
            <a:normAutofit/>
          </a:bodyPr>
          <a:lstStyle/>
          <a:p>
            <a:pPr algn="ctr">
              <a:buNone/>
            </a:pPr>
            <a:r>
              <a:rPr lang="en-US" sz="1600" dirty="0">
                <a:latin typeface="Tisa Offc Serif Pro"/>
              </a:rPr>
              <a:t>Offline expansion unlocked a new revenue stream, marking a strategic pivot.</a:t>
            </a:r>
          </a:p>
          <a:p>
            <a:pPr algn="ctr">
              <a:buNone/>
            </a:pPr>
            <a:endParaRPr lang="en-US" sz="1600" dirty="0">
              <a:latin typeface="Tisa Offc Serif Pro"/>
            </a:endParaRPr>
          </a:p>
          <a:p>
            <a:r>
              <a:rPr lang="en-US" sz="1600" b="1" dirty="0">
                <a:latin typeface="Univers Light"/>
              </a:rPr>
              <a:t>Launch date</a:t>
            </a:r>
            <a:r>
              <a:rPr lang="en-US" sz="1600" dirty="0">
                <a:latin typeface="Univers Light"/>
              </a:rPr>
              <a:t>: May 2013</a:t>
            </a:r>
          </a:p>
          <a:p>
            <a:pPr>
              <a:lnSpc>
                <a:spcPct val="300000"/>
              </a:lnSpc>
              <a:spcAft>
                <a:spcPts val="0"/>
              </a:spcAft>
            </a:pPr>
            <a:r>
              <a:rPr lang="en-US" sz="1800" b="1" dirty="0">
                <a:latin typeface="Univers Light"/>
              </a:rPr>
              <a:t>Offline</a:t>
            </a:r>
            <a:r>
              <a:rPr lang="en-US" sz="1800" b="1" dirty="0"/>
              <a:t> orders: </a:t>
            </a:r>
            <a:r>
              <a:rPr lang="en-US" sz="1800" dirty="0"/>
              <a:t>78</a:t>
            </a:r>
            <a:endParaRPr lang="en-US"/>
          </a:p>
          <a:p>
            <a:pPr marL="285750" indent="-285750">
              <a:lnSpc>
                <a:spcPct val="300000"/>
              </a:lnSpc>
              <a:spcAft>
                <a:spcPts val="0"/>
              </a:spcAft>
            </a:pPr>
            <a:r>
              <a:rPr lang="en-US" sz="1800" b="1" dirty="0">
                <a:ea typeface="+mn-lt"/>
                <a:cs typeface="+mn-lt"/>
              </a:rPr>
              <a:t>Offline Revenue:</a:t>
            </a:r>
            <a:r>
              <a:rPr lang="en-US" sz="1800" dirty="0">
                <a:ea typeface="+mn-lt"/>
                <a:cs typeface="+mn-lt"/>
              </a:rPr>
              <a:t> $1.8M</a:t>
            </a:r>
          </a:p>
          <a:p>
            <a:pPr marL="285750" indent="-285750">
              <a:lnSpc>
                <a:spcPct val="3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ea typeface="+mn-lt"/>
                <a:cs typeface="+mn-lt"/>
              </a:rPr>
              <a:t>4.7% </a:t>
            </a:r>
            <a:r>
              <a:rPr lang="en-US" sz="1800" dirty="0">
                <a:ea typeface="+mn-lt"/>
                <a:cs typeface="+mn-lt"/>
              </a:rPr>
              <a:t>of total revenue</a:t>
            </a:r>
          </a:p>
          <a:p>
            <a:pPr marL="0" indent="0">
              <a:lnSpc>
                <a:spcPct val="300000"/>
              </a:lnSpc>
              <a:spcAft>
                <a:spcPts val="0"/>
              </a:spcAft>
              <a:buNone/>
            </a:pPr>
            <a:endParaRPr lang="en-US" sz="1800" dirty="0">
              <a:ea typeface="+mn-lt"/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4C338-9B76-562D-CA52-DA704007ED7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6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FA60274-3ADE-5D6E-9097-CDA806EF9238}"/>
              </a:ext>
            </a:extLst>
          </p:cNvPr>
          <p:cNvCxnSpPr/>
          <p:nvPr/>
        </p:nvCxnSpPr>
        <p:spPr>
          <a:xfrm>
            <a:off x="7214074" y="2556616"/>
            <a:ext cx="365501" cy="1140415"/>
          </a:xfrm>
          <a:prstGeom prst="straightConnector1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6B6308C9-6D15-10CC-703C-A99B1EDF68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4106503"/>
              </p:ext>
            </p:extLst>
          </p:nvPr>
        </p:nvGraphicFramePr>
        <p:xfrm>
          <a:off x="5727915" y="2214589"/>
          <a:ext cx="609600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23443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97994-CB78-CDA7-A220-177F4CBDC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4D94F-B7E0-67E2-A4B6-B04DF40DC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391" y="157"/>
            <a:ext cx="9150675" cy="1427585"/>
          </a:xfrm>
        </p:spPr>
        <p:txBody>
          <a:bodyPr/>
          <a:lstStyle/>
          <a:p>
            <a:r>
              <a:rPr lang="en-US" i="1" dirty="0">
                <a:ea typeface="+mj-lt"/>
                <a:cs typeface="+mj-lt"/>
              </a:rPr>
              <a:t>Online Campaign Impact (May2013)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B02D-D2D5-376B-BC73-CCE7B386BAB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51050" y="1289750"/>
            <a:ext cx="8552264" cy="4119463"/>
          </a:xfrm>
        </p:spPr>
        <p:txBody>
          <a:bodyPr vert="horz" lIns="0" tIns="0" rIns="0" bIns="0" rtlCol="0" anchor="t">
            <a:normAutofit fontScale="85000" lnSpcReduction="20000"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dirty="0">
                <a:ea typeface="+mn-lt"/>
                <a:cs typeface="+mn-lt"/>
              </a:rPr>
              <a:t>The Clothing &amp; Accessories campaign was a turning point — doubling orders and setting the tone for Q3 growth.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dirty="0">
                <a:ea typeface="+mn-lt"/>
                <a:cs typeface="+mn-lt"/>
              </a:rPr>
              <a:t>Launch date -&gt; </a:t>
            </a:r>
            <a:r>
              <a:rPr lang="en-US" b="1" dirty="0">
                <a:ea typeface="+mn-lt"/>
                <a:cs typeface="+mn-lt"/>
              </a:rPr>
              <a:t>May 2013</a:t>
            </a:r>
          </a:p>
          <a:p>
            <a:pPr>
              <a:lnSpc>
                <a:spcPct val="300000"/>
              </a:lnSpc>
            </a:pPr>
            <a:r>
              <a:rPr lang="en-US" dirty="0">
                <a:ea typeface="+mn-lt"/>
                <a:cs typeface="+mn-lt"/>
              </a:rPr>
              <a:t>June Orders: </a:t>
            </a:r>
            <a:r>
              <a:rPr lang="en-US" b="1" dirty="0">
                <a:ea typeface="+mn-lt"/>
                <a:cs typeface="+mn-lt"/>
              </a:rPr>
              <a:t>390  -&gt; 719</a:t>
            </a:r>
          </a:p>
          <a:p>
            <a:pPr>
              <a:lnSpc>
                <a:spcPct val="300000"/>
              </a:lnSpc>
            </a:pPr>
            <a:r>
              <a:rPr lang="en-US" dirty="0"/>
              <a:t>November Orders: </a:t>
            </a:r>
            <a:r>
              <a:rPr lang="en-US" b="1" dirty="0"/>
              <a:t>383  -&gt; 2103</a:t>
            </a:r>
          </a:p>
          <a:p>
            <a:pPr>
              <a:lnSpc>
                <a:spcPct val="300000"/>
              </a:lnSpc>
            </a:pPr>
            <a:r>
              <a:rPr lang="en-US" dirty="0"/>
              <a:t>From </a:t>
            </a:r>
            <a:r>
              <a:rPr lang="en-US" b="1" dirty="0"/>
              <a:t>double </a:t>
            </a:r>
            <a:r>
              <a:rPr lang="en-US" dirty="0"/>
              <a:t>to </a:t>
            </a:r>
            <a:r>
              <a:rPr lang="en-US" b="1" dirty="0"/>
              <a:t>sextuple </a:t>
            </a:r>
            <a:r>
              <a:rPr lang="en-US" dirty="0"/>
              <a:t>in </a:t>
            </a:r>
            <a:r>
              <a:rPr lang="en-US" b="1" dirty="0"/>
              <a:t>24 weeks</a:t>
            </a:r>
            <a:r>
              <a:rPr lang="en-US" dirty="0"/>
              <a:t> </a:t>
            </a:r>
          </a:p>
          <a:p>
            <a:pPr>
              <a:lnSpc>
                <a:spcPct val="300000"/>
              </a:lnSpc>
            </a:pPr>
            <a:endParaRPr lang="en-US" dirty="0"/>
          </a:p>
          <a:p>
            <a:pPr marL="0" indent="0">
              <a:lnSpc>
                <a:spcPct val="300000"/>
              </a:lnSpc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37DF8-E8E5-97A6-87D0-7888CEEB9B7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E461F38-D881-525E-1342-5C7EF63384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7161999"/>
              </p:ext>
            </p:extLst>
          </p:nvPr>
        </p:nvGraphicFramePr>
        <p:xfrm>
          <a:off x="6318456" y="2711646"/>
          <a:ext cx="609600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87F2B2F-46D0-285E-2659-A88B58102086}"/>
              </a:ext>
            </a:extLst>
          </p:cNvPr>
          <p:cNvCxnSpPr/>
          <p:nvPr/>
        </p:nvCxnSpPr>
        <p:spPr>
          <a:xfrm>
            <a:off x="9307794" y="4500785"/>
            <a:ext cx="24214" cy="1142287"/>
          </a:xfrm>
          <a:prstGeom prst="straightConnector1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478994D-3D95-DD63-0DF4-9C559B44C5D3}"/>
              </a:ext>
            </a:extLst>
          </p:cNvPr>
          <p:cNvCxnSpPr>
            <a:cxnSpLocks/>
          </p:cNvCxnSpPr>
          <p:nvPr/>
        </p:nvCxnSpPr>
        <p:spPr>
          <a:xfrm>
            <a:off x="11586671" y="3432560"/>
            <a:ext cx="2850" cy="2039595"/>
          </a:xfrm>
          <a:prstGeom prst="straightConnector1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389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1264C-CCB7-5F21-FF8E-793ADC73A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5F22C-566E-B08B-DD7C-D126F7DB9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391" y="157"/>
            <a:ext cx="9150675" cy="1427585"/>
          </a:xfrm>
        </p:spPr>
        <p:txBody>
          <a:bodyPr/>
          <a:lstStyle/>
          <a:p>
            <a:r>
              <a:rPr lang="en-US" i="1" dirty="0">
                <a:ea typeface="+mj-lt"/>
                <a:cs typeface="+mj-lt"/>
              </a:rPr>
              <a:t>Top Products — Dominance &amp; Emerging Potential</a:t>
            </a:r>
            <a:endParaRPr lang="en-US" i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F4C06-0646-6663-B0E7-141C31CBAEF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40533" y="2145890"/>
            <a:ext cx="8132096" cy="4119463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1400" b="1" dirty="0">
                <a:ea typeface="+mn-lt"/>
                <a:cs typeface="+mn-lt"/>
              </a:rPr>
              <a:t>Clothing &amp; Accessories:</a:t>
            </a:r>
            <a:r>
              <a:rPr lang="en-US" sz="1400" dirty="0">
                <a:ea typeface="+mn-lt"/>
                <a:cs typeface="+mn-lt"/>
              </a:rPr>
              <a:t> 3% — introduced mid-2013 via online campaign (1.5 mil USD)</a:t>
            </a:r>
            <a:endParaRPr lang="en-US"/>
          </a:p>
          <a:p>
            <a:pPr>
              <a:lnSpc>
                <a:spcPct val="200000"/>
              </a:lnSpc>
            </a:pPr>
            <a:r>
              <a:rPr lang="en-US" sz="1400" dirty="0">
                <a:ea typeface="+mn-lt"/>
                <a:cs typeface="+mn-lt"/>
              </a:rPr>
              <a:t>This growth came </a:t>
            </a:r>
            <a:r>
              <a:rPr lang="en-US" sz="1400" b="1" dirty="0">
                <a:ea typeface="+mn-lt"/>
                <a:cs typeface="+mn-lt"/>
              </a:rPr>
              <a:t>entirely through online channels</a:t>
            </a:r>
            <a:endParaRPr lang="en-US" sz="1400" dirty="0">
              <a:ea typeface="+mn-lt"/>
              <a:cs typeface="+mn-lt"/>
            </a:endParaRPr>
          </a:p>
          <a:p>
            <a:pPr>
              <a:lnSpc>
                <a:spcPct val="200000"/>
              </a:lnSpc>
            </a:pPr>
            <a:r>
              <a:rPr lang="en-US" sz="1400" dirty="0">
                <a:ea typeface="+mn-lt"/>
                <a:cs typeface="+mn-lt"/>
              </a:rPr>
              <a:t>They offer cross-sell potential with</a:t>
            </a:r>
            <a:r>
              <a:rPr lang="en-US" sz="1400" b="1" dirty="0">
                <a:ea typeface="+mn-lt"/>
                <a:cs typeface="+mn-lt"/>
              </a:rPr>
              <a:t> all bike buyers</a:t>
            </a:r>
            <a:r>
              <a:rPr lang="en-US" sz="1400" dirty="0">
                <a:ea typeface="+mn-lt"/>
                <a:cs typeface="+mn-lt"/>
              </a:rPr>
              <a:t>.</a:t>
            </a:r>
            <a:endParaRPr lang="en-US" sz="1400" b="1" dirty="0">
              <a:ea typeface="+mn-lt"/>
              <a:cs typeface="+mn-lt"/>
            </a:endParaRPr>
          </a:p>
          <a:p>
            <a:pPr>
              <a:lnSpc>
                <a:spcPct val="300000"/>
              </a:lnSpc>
            </a:pPr>
            <a:endParaRPr lang="en-US" sz="1400" b="1" dirty="0"/>
          </a:p>
          <a:p>
            <a:pPr marL="0" indent="0">
              <a:lnSpc>
                <a:spcPct val="300000"/>
              </a:lnSpc>
              <a:buNone/>
            </a:pPr>
            <a:endParaRPr lang="en-US" sz="1400" dirty="0"/>
          </a:p>
          <a:p>
            <a:pPr marL="0" indent="0">
              <a:lnSpc>
                <a:spcPct val="300000"/>
              </a:lnSpc>
              <a:buNone/>
            </a:pPr>
            <a:r>
              <a:rPr lang="en-US" sz="1400" dirty="0"/>
              <a:t>  With targeted campaigns, they could grow a lot more from current 3%</a:t>
            </a:r>
            <a:endParaRPr lang="en-US" dirty="0"/>
          </a:p>
          <a:p>
            <a:pPr marL="0" indent="0">
              <a:lnSpc>
                <a:spcPct val="300000"/>
              </a:lnSpc>
              <a:buNone/>
            </a:pPr>
            <a:endParaRPr lang="en-US" sz="1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44F7B7-8077-D63C-7310-1B1BAE9DB78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5B7DE96D-42E6-3B7B-8070-71455FED7F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1812380"/>
              </p:ext>
            </p:extLst>
          </p:nvPr>
        </p:nvGraphicFramePr>
        <p:xfrm>
          <a:off x="7232617" y="1298816"/>
          <a:ext cx="5547974" cy="49712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36951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6C2-37FC-8D1E-8639-172E99FF6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7884F-F8A3-988C-41F2-CDCAFCA0A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391" y="157"/>
            <a:ext cx="9150675" cy="1427585"/>
          </a:xfrm>
        </p:spPr>
        <p:txBody>
          <a:bodyPr/>
          <a:lstStyle/>
          <a:p>
            <a:r>
              <a:rPr lang="en-US" i="1" dirty="0">
                <a:ea typeface="+mj-lt"/>
                <a:cs typeface="+mj-lt"/>
              </a:rPr>
              <a:t>Newcomers Package — Gateway to Brand Loyalty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1A3C8-FD6E-9B72-61B5-6EA5804760B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37652" y="1427836"/>
            <a:ext cx="8552264" cy="4119463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dirty="0">
                <a:ea typeface="+mn-lt"/>
                <a:cs typeface="+mn-lt"/>
              </a:rPr>
              <a:t>A curated bundle of </a:t>
            </a:r>
            <a:r>
              <a:rPr lang="en-US" b="1" dirty="0">
                <a:ea typeface="+mn-lt"/>
                <a:cs typeface="+mn-lt"/>
              </a:rPr>
              <a:t>top-selling gear</a:t>
            </a:r>
            <a:r>
              <a:rPr lang="en-US" dirty="0">
                <a:ea typeface="+mn-lt"/>
                <a:cs typeface="+mn-lt"/>
              </a:rPr>
              <a:t> for new cyclists:</a:t>
            </a:r>
            <a:endParaRPr lang="en-US" dirty="0"/>
          </a:p>
          <a:p>
            <a:pPr marL="0" indent="0">
              <a:lnSpc>
                <a:spcPct val="300000"/>
              </a:lnSpc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0" indent="0">
              <a:lnSpc>
                <a:spcPct val="300000"/>
              </a:lnSpc>
              <a:buNone/>
            </a:pPr>
            <a:endParaRPr lang="en-US" dirty="0">
              <a:ea typeface="+mn-lt"/>
              <a:cs typeface="+mn-lt"/>
            </a:endParaRPr>
          </a:p>
          <a:p>
            <a:pPr>
              <a:lnSpc>
                <a:spcPct val="300000"/>
              </a:lnSpc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48B57-A9CC-30EF-79C6-CF86E2B1A65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9" name="Picture 8" descr="A table with numbers and numbers&#10;&#10;AI-generated content may be incorrect.">
            <a:extLst>
              <a:ext uri="{FF2B5EF4-FFF2-40B4-BE49-F238E27FC236}">
                <a16:creationId xmlns:a16="http://schemas.microsoft.com/office/drawing/2014/main" id="{B64B43D9-F981-4A4A-A73B-D5A505197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950" y="2497137"/>
            <a:ext cx="5959475" cy="31575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62A168D-31E5-5324-73AF-A9AF7675B43D}"/>
              </a:ext>
            </a:extLst>
          </p:cNvPr>
          <p:cNvSpPr txBox="1"/>
          <p:nvPr/>
        </p:nvSpPr>
        <p:spPr>
          <a:xfrm>
            <a:off x="7905750" y="2873375"/>
            <a:ext cx="4037012" cy="20526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50000"/>
              </a:lnSpc>
              <a:buFont typeface="Arial"/>
              <a:buChar char="•"/>
            </a:pPr>
            <a:r>
              <a:rPr lang="en-US" dirty="0"/>
              <a:t>Can be bought in bundles</a:t>
            </a:r>
            <a:endParaRPr lang="en-US"/>
          </a:p>
          <a:p>
            <a:pPr marL="285750" indent="-285750">
              <a:lnSpc>
                <a:spcPct val="250000"/>
              </a:lnSpc>
              <a:buFont typeface="Arial"/>
              <a:buChar char="•"/>
            </a:pPr>
            <a:r>
              <a:rPr lang="en-US" dirty="0"/>
              <a:t>Typically carry high margin</a:t>
            </a:r>
          </a:p>
          <a:p>
            <a:pPr marL="285750" indent="-285750">
              <a:lnSpc>
                <a:spcPct val="250000"/>
              </a:lnSpc>
              <a:buFont typeface="Arial"/>
              <a:buChar char="•"/>
            </a:pPr>
            <a:r>
              <a:rPr lang="en-US" dirty="0"/>
              <a:t>Customer likely to restock</a:t>
            </a:r>
          </a:p>
        </p:txBody>
      </p:sp>
    </p:spTree>
    <p:extLst>
      <p:ext uri="{BB962C8B-B14F-4D97-AF65-F5344CB8AC3E}">
        <p14:creationId xmlns:p14="http://schemas.microsoft.com/office/powerpoint/2010/main" val="3288643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1C3CA-F961-6EF7-9ADA-13C035920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82120-6D5B-5A71-A3A3-7D368ECF3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391" y="157"/>
            <a:ext cx="9150675" cy="1427585"/>
          </a:xfrm>
        </p:spPr>
        <p:txBody>
          <a:bodyPr/>
          <a:lstStyle/>
          <a:p>
            <a:r>
              <a:rPr lang="en-US" i="1" dirty="0">
                <a:ea typeface="+mj-lt"/>
                <a:cs typeface="+mj-lt"/>
              </a:rPr>
              <a:t>Complication — Growth Meets Inventory Pressure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7EBF2-494B-78DA-B34B-E1A4F2F631B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48777" y="1213523"/>
            <a:ext cx="11076389" cy="4119463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 algn="ctr">
              <a:lnSpc>
                <a:spcPct val="300000"/>
              </a:lnSpc>
              <a:buNone/>
            </a:pPr>
            <a:endParaRPr lang="en-US" sz="1800" dirty="0"/>
          </a:p>
          <a:p>
            <a:pPr marL="285750" indent="-285750">
              <a:lnSpc>
                <a:spcPct val="300000"/>
              </a:lnSpc>
            </a:pPr>
            <a:r>
              <a:rPr lang="en-US" sz="1800" b="1" dirty="0"/>
              <a:t>STR </a:t>
            </a:r>
            <a:r>
              <a:rPr lang="en-US" sz="1800" dirty="0"/>
              <a:t>– Stock Turnover Rate</a:t>
            </a:r>
          </a:p>
          <a:p>
            <a:pPr marL="285750" indent="-285750">
              <a:lnSpc>
                <a:spcPct val="200000"/>
              </a:lnSpc>
            </a:pPr>
            <a:r>
              <a:rPr lang="en-US" sz="1800" b="1" dirty="0"/>
              <a:t>Low STR</a:t>
            </a:r>
            <a:r>
              <a:rPr lang="en-US" sz="1800" dirty="0"/>
              <a:t> – out of stock, lost sale, customer frustration</a:t>
            </a:r>
          </a:p>
          <a:p>
            <a:pPr marL="285750" indent="-285750">
              <a:lnSpc>
                <a:spcPct val="200000"/>
              </a:lnSpc>
            </a:pPr>
            <a:r>
              <a:rPr lang="en-US" sz="1800" b="1" dirty="0"/>
              <a:t>Hight STR</a:t>
            </a:r>
            <a:r>
              <a:rPr lang="en-US" sz="1800" dirty="0"/>
              <a:t> – overstocking, no sales, unpopular product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F210F-673D-B5EC-0FC2-E3FBFF9FC9D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4" descr="A list of clothing items&#10;&#10;AI-generated content may be incorrect.">
            <a:extLst>
              <a:ext uri="{FF2B5EF4-FFF2-40B4-BE49-F238E27FC236}">
                <a16:creationId xmlns:a16="http://schemas.microsoft.com/office/drawing/2014/main" id="{DEB3FB6E-95D4-1A2F-BF3C-31221B264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3150" y="1522412"/>
            <a:ext cx="2854325" cy="442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547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61739-13E3-7A8A-8859-336FB09DE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4DD75-BFAF-4828-7998-32304522D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391" y="157"/>
            <a:ext cx="9150675" cy="1427585"/>
          </a:xfrm>
        </p:spPr>
        <p:txBody>
          <a:bodyPr/>
          <a:lstStyle/>
          <a:p>
            <a:r>
              <a:rPr lang="en-US" i="1" dirty="0">
                <a:ea typeface="+mj-lt"/>
                <a:cs typeface="+mj-lt"/>
              </a:rPr>
              <a:t>Opportunity — Expand Assortment to Unlock Growth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1EE4B-312C-9086-EB4A-8B4EF7D9355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58277" y="1904086"/>
            <a:ext cx="5869390" cy="4119463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800" b="1" dirty="0"/>
              <a:t>We offer</a:t>
            </a:r>
            <a:endParaRPr lang="en-US" b="1"/>
          </a:p>
          <a:p>
            <a:pPr>
              <a:lnSpc>
                <a:spcPct val="200000"/>
              </a:lnSpc>
            </a:pPr>
            <a:r>
              <a:rPr lang="en-US" sz="1800" b="1" dirty="0">
                <a:ea typeface="+mn-lt"/>
                <a:cs typeface="+mn-lt"/>
              </a:rPr>
              <a:t>Helmets</a:t>
            </a:r>
            <a:r>
              <a:rPr lang="en-US" sz="1800" dirty="0">
                <a:ea typeface="+mn-lt"/>
                <a:cs typeface="+mn-lt"/>
              </a:rPr>
              <a:t>: 3 variants (Black / Blue / Red)</a:t>
            </a:r>
            <a:endParaRPr lang="en-US" dirty="0">
              <a:ea typeface="+mn-lt"/>
              <a:cs typeface="+mn-lt"/>
            </a:endParaRPr>
          </a:p>
          <a:p>
            <a:pPr>
              <a:lnSpc>
                <a:spcPct val="200000"/>
              </a:lnSpc>
            </a:pPr>
            <a:r>
              <a:rPr lang="en-US" sz="1800" b="1" dirty="0">
                <a:ea typeface="+mn-lt"/>
                <a:cs typeface="+mn-lt"/>
              </a:rPr>
              <a:t>Jerseys</a:t>
            </a:r>
            <a:r>
              <a:rPr lang="en-US" sz="1800" dirty="0">
                <a:ea typeface="+mn-lt"/>
                <a:cs typeface="+mn-lt"/>
              </a:rPr>
              <a:t>: 2 styles (  Long Sleeve / Short Sleeve)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sz="1800" b="1" dirty="0">
                <a:ea typeface="+mn-lt"/>
                <a:cs typeface="+mn-lt"/>
              </a:rPr>
              <a:t>Gloves</a:t>
            </a:r>
            <a:r>
              <a:rPr lang="en-US" sz="1800" dirty="0">
                <a:ea typeface="+mn-lt"/>
                <a:cs typeface="+mn-lt"/>
              </a:rPr>
              <a:t>: 2 types (Full-Finger / Half-Finger)</a:t>
            </a:r>
            <a:endParaRPr lang="en-US" dirty="0"/>
          </a:p>
          <a:p>
            <a:pPr marL="285750" indent="-285750">
              <a:lnSpc>
                <a:spcPct val="300000"/>
              </a:lnSpc>
            </a:pP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87D28-5107-7AB7-D545-C08F6DFC79E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A806582-9756-ED71-37F9-7AE9B19A2D82}"/>
              </a:ext>
            </a:extLst>
          </p:cNvPr>
          <p:cNvSpPr txBox="1">
            <a:spLocks/>
          </p:cNvSpPr>
          <p:nvPr/>
        </p:nvSpPr>
        <p:spPr>
          <a:xfrm>
            <a:off x="6968552" y="1905673"/>
            <a:ext cx="5869390" cy="411946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00000"/>
              </a:lnSpc>
              <a:buNone/>
            </a:pPr>
            <a:r>
              <a:rPr lang="en-US" sz="1800" b="1" dirty="0"/>
              <a:t>We are missing</a:t>
            </a:r>
            <a:endParaRPr lang="en-US" b="1"/>
          </a:p>
          <a:p>
            <a:pPr>
              <a:lnSpc>
                <a:spcPct val="200000"/>
              </a:lnSpc>
            </a:pPr>
            <a:r>
              <a:rPr lang="en-US" sz="1800" dirty="0">
                <a:ea typeface="+mn-lt"/>
                <a:cs typeface="+mn-lt"/>
              </a:rPr>
              <a:t>neon, matte, seasonal tones</a:t>
            </a:r>
            <a:endParaRPr lang="en-US" dirty="0">
              <a:ea typeface="+mn-lt"/>
              <a:cs typeface="+mn-lt"/>
            </a:endParaRPr>
          </a:p>
          <a:p>
            <a:pPr>
              <a:lnSpc>
                <a:spcPct val="200000"/>
              </a:lnSpc>
            </a:pPr>
            <a:r>
              <a:rPr lang="en-US" sz="1800" dirty="0">
                <a:ea typeface="+mn-lt"/>
                <a:cs typeface="+mn-lt"/>
              </a:rPr>
              <a:t>Aerodynamic, thermal jerseys</a:t>
            </a:r>
            <a:endParaRPr lang="en-US" sz="1800" dirty="0"/>
          </a:p>
          <a:p>
            <a:pPr>
              <a:lnSpc>
                <a:spcPct val="200000"/>
              </a:lnSpc>
            </a:pPr>
            <a:r>
              <a:rPr lang="en-US" sz="1800" dirty="0">
                <a:ea typeface="+mn-lt"/>
                <a:cs typeface="+mn-lt"/>
              </a:rPr>
              <a:t>Tiered </a:t>
            </a:r>
            <a:r>
              <a:rPr lang="en-US" sz="1800" b="1" dirty="0">
                <a:ea typeface="+mn-lt"/>
                <a:cs typeface="+mn-lt"/>
              </a:rPr>
              <a:t>price points</a:t>
            </a:r>
            <a:r>
              <a:rPr lang="en-US" sz="1800" dirty="0">
                <a:ea typeface="+mn-lt"/>
                <a:cs typeface="+mn-lt"/>
              </a:rPr>
              <a:t> (basic vs. premium)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lnSpc>
                <a:spcPct val="300000"/>
              </a:lnSpc>
            </a:pPr>
            <a:endParaRPr lang="en-US" sz="18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E2F03D1-DBF5-190F-A134-F906888EF362}"/>
              </a:ext>
            </a:extLst>
          </p:cNvPr>
          <p:cNvCxnSpPr/>
          <p:nvPr/>
        </p:nvCxnSpPr>
        <p:spPr>
          <a:xfrm>
            <a:off x="6540499" y="976312"/>
            <a:ext cx="15875" cy="4905375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89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633D4-5618-04B3-78E9-E31D38624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ea typeface="+mj-lt"/>
                <a:cs typeface="+mj-lt"/>
              </a:rPr>
              <a:t>Key Takeaways</a:t>
            </a:r>
            <a:r>
              <a:rPr lang="en-US" dirty="0">
                <a:ea typeface="+mj-lt"/>
                <a:cs typeface="+mj-lt"/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E1C36-7EBC-9379-8EDB-B6D81084158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 vert="horz" lIns="0" tIns="0" rIns="0" bIns="0" rtlCol="0" anchor="t">
            <a:normAutofit fontScale="92500" lnSpcReduction="20000"/>
          </a:bodyPr>
          <a:lstStyle/>
          <a:p>
            <a:pPr>
              <a:lnSpc>
                <a:spcPct val="250000"/>
              </a:lnSpc>
            </a:pPr>
            <a:r>
              <a:rPr lang="en-US" dirty="0">
                <a:ea typeface="+mn-lt"/>
                <a:cs typeface="+mn-lt"/>
              </a:rPr>
              <a:t>🚴 </a:t>
            </a:r>
            <a:r>
              <a:rPr lang="en-US" dirty="0" err="1">
                <a:ea typeface="+mn-lt"/>
                <a:cs typeface="+mn-lt"/>
              </a:rPr>
              <a:t>AdventureWorks</a:t>
            </a:r>
            <a:r>
              <a:rPr lang="en-US" dirty="0">
                <a:ea typeface="+mn-lt"/>
                <a:cs typeface="+mn-lt"/>
              </a:rPr>
              <a:t> is a bike-first brand — but not bike-only</a:t>
            </a:r>
            <a:endParaRPr lang="en-US" dirty="0"/>
          </a:p>
          <a:p>
            <a:pPr>
              <a:lnSpc>
                <a:spcPct val="250000"/>
              </a:lnSpc>
            </a:pPr>
            <a:r>
              <a:rPr lang="en-US" dirty="0">
                <a:ea typeface="+mn-lt"/>
                <a:cs typeface="+mn-lt"/>
              </a:rPr>
              <a:t>🚀 Clothing &amp; Accessories are emerging stars with digital traction</a:t>
            </a:r>
            <a:endParaRPr lang="en-US" dirty="0"/>
          </a:p>
          <a:p>
            <a:pPr>
              <a:lnSpc>
                <a:spcPct val="250000"/>
              </a:lnSpc>
            </a:pPr>
            <a:r>
              <a:rPr lang="en-US" dirty="0">
                <a:ea typeface="+mn-lt"/>
                <a:cs typeface="+mn-lt"/>
              </a:rPr>
              <a:t>📊 Online campaigns drive growth efficiently</a:t>
            </a:r>
            <a:endParaRPr lang="en-US" dirty="0"/>
          </a:p>
          <a:p>
            <a:pPr>
              <a:lnSpc>
                <a:spcPct val="250000"/>
              </a:lnSpc>
            </a:pPr>
            <a:r>
              <a:rPr lang="en-US" dirty="0">
                <a:ea typeface="+mn-lt"/>
                <a:cs typeface="+mn-lt"/>
              </a:rPr>
              <a:t>🔄 Stock turnover insights reveal margin opportunities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🧩 Assortment expansion is a strategic leverage</a:t>
            </a:r>
          </a:p>
          <a:p>
            <a:pPr>
              <a:lnSpc>
                <a:spcPct val="250000"/>
              </a:lnSpc>
            </a:pPr>
            <a:endParaRPr lang="en-US" dirty="0"/>
          </a:p>
          <a:p>
            <a:pPr>
              <a:lnSpc>
                <a:spcPct val="250000"/>
              </a:lnSpc>
            </a:pPr>
            <a:endParaRPr lang="en-US" dirty="0"/>
          </a:p>
          <a:p>
            <a:pPr>
              <a:lnSpc>
                <a:spcPct val="250000"/>
              </a:lnSpc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1BB85-BA15-4122-0091-9EEAE2B19A1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28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4" y="690511"/>
            <a:ext cx="4964671" cy="5253089"/>
          </a:xfrm>
        </p:spPr>
        <p:txBody>
          <a:bodyPr/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ECFE66-A9E7-A365-967B-2FD670CB392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82286" y="690465"/>
            <a:ext cx="4784372" cy="5253089"/>
          </a:xfrm>
        </p:spPr>
        <p:txBody>
          <a:bodyPr/>
          <a:lstStyle/>
          <a:p>
            <a:pPr algn="ctr"/>
            <a:r>
              <a:rPr lang="en-US" sz="6600" dirty="0"/>
              <a:t>Q&amp;A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98CD342-50C4-441F-B4A3-7D5ADB0571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AE0208-DBD5-43E1-AC6B-D2AD9623F0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DD27D0-5B6E-4A0E-95B2-BB37F9D8861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419</Words>
  <Application>Microsoft Office PowerPoint</Application>
  <PresentationFormat>Widescreen</PresentationFormat>
  <Paragraphs>118</Paragraphs>
  <Slides>13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Custom</vt:lpstr>
      <vt:lpstr>AdventureWorks:  Scaling Smart</vt:lpstr>
      <vt:lpstr>AdventureWorks Roadmap Overview</vt:lpstr>
      <vt:lpstr>AdventureWorks in 2012:  A Stable Foundation</vt:lpstr>
      <vt:lpstr>2013: A Year of Acceleration</vt:lpstr>
      <vt:lpstr>Growth Concentration: A Strategic Signal</vt:lpstr>
      <vt:lpstr>Australia Offline Launch (May 2013) </vt:lpstr>
      <vt:lpstr>Online Campaign Impact (May2013)</vt:lpstr>
      <vt:lpstr>Top Products — Dominance &amp; Emerging Potential</vt:lpstr>
      <vt:lpstr>Newcomers Package — Gateway to Brand Loyalty</vt:lpstr>
      <vt:lpstr>Complication — Growth Meets Inventory Pressure</vt:lpstr>
      <vt:lpstr>Opportunity — Expand Assortment to Unlock Growth</vt:lpstr>
      <vt:lpstr>Key Takeaways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869</cp:revision>
  <dcterms:created xsi:type="dcterms:W3CDTF">2025-09-04T21:52:02Z</dcterms:created>
  <dcterms:modified xsi:type="dcterms:W3CDTF">2026-01-12T14:57:03Z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